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3.svg" ContentType="image/svg+xml"/>
  <Override PartName="/ppt/media/image2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4630400" cy="8229600"/>
  <p:notesSz cx="8229600" cy="14630400"/>
  <p:embeddedFontLst>
    <p:embeddedFont>
      <p:font typeface="Libre Baskerville" panose="02000000000000000000" pitchFamily="34" charset="0"/>
      <p:regular r:id="rId24"/>
    </p:embeddedFont>
    <p:embeddedFont>
      <p:font typeface="Libre Baskerville" panose="02000000000000000000" pitchFamily="34" charset="-122"/>
      <p:regular r:id="rId25"/>
    </p:embeddedFont>
    <p:embeddedFont>
      <p:font typeface="Libre Baskerville" panose="02000000000000000000" pitchFamily="34" charset="-120"/>
      <p:regular r:id="rId26"/>
    </p:embeddedFont>
    <p:embeddedFont>
      <p:font typeface="DM Sans" pitchFamily="34" charset="0"/>
      <p:regular r:id="rId27"/>
      <p:bold r:id="rId28"/>
      <p:italic r:id="rId29"/>
    </p:embeddedFont>
    <p:embeddedFont>
      <p:font typeface="DM Sans" pitchFamily="34" charset="-122"/>
      <p:regular r:id="rId30"/>
    </p:embeddedFont>
    <p:embeddedFont>
      <p:font typeface="DM Sans" pitchFamily="34" charset="-120"/>
      <p:regular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897C"/>
    <a:srgbClr val="F6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2.fntdata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>
              <a:alpha val="9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6.xml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Autonomous EKF-SLAM Navigation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Probabilistic State Estimation &amp; Navigation for Differential Drive Robots</a:t>
            </a:r>
            <a:endParaRPr lang="en-US" sz="1750" dirty="0"/>
          </a:p>
        </p:txBody>
      </p:sp>
      <p:sp>
        <p:nvSpPr>
          <p:cNvPr id="5" name="Rectangle 4"/>
          <p:cNvSpPr/>
          <p:nvPr/>
        </p:nvSpPr>
        <p:spPr>
          <a:xfrm>
            <a:off x="12635345" y="7523018"/>
            <a:ext cx="1901537" cy="633846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59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78141" y="464939"/>
            <a:ext cx="6592848" cy="528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Project Overview &amp; Objectives</a:t>
            </a:r>
            <a:endParaRPr lang="en-US" sz="3300" dirty="0"/>
          </a:p>
        </p:txBody>
      </p:sp>
      <p:sp>
        <p:nvSpPr>
          <p:cNvPr id="4" name="Shape 1"/>
          <p:cNvSpPr/>
          <p:nvPr/>
        </p:nvSpPr>
        <p:spPr>
          <a:xfrm>
            <a:off x="6078141" y="1500426"/>
            <a:ext cx="7960519" cy="1250633"/>
          </a:xfrm>
          <a:prstGeom prst="roundRect">
            <a:avLst>
              <a:gd name="adj" fmla="val 8774"/>
            </a:avLst>
          </a:prstGeom>
          <a:solidFill>
            <a:srgbClr val="FFFCF5">
              <a:alpha val="95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6078141" y="1477566"/>
            <a:ext cx="7960519" cy="91440"/>
          </a:xfrm>
          <a:prstGeom prst="roundRect">
            <a:avLst>
              <a:gd name="adj" fmla="val 10000"/>
            </a:avLst>
          </a:prstGeom>
          <a:solidFill>
            <a:srgbClr val="325F7B"/>
          </a:solidFill>
        </p:spPr>
      </p:sp>
      <p:sp>
        <p:nvSpPr>
          <p:cNvPr id="6" name="Shape 3"/>
          <p:cNvSpPr/>
          <p:nvPr/>
        </p:nvSpPr>
        <p:spPr>
          <a:xfrm>
            <a:off x="9804797" y="1246823"/>
            <a:ext cx="507206" cy="507206"/>
          </a:xfrm>
          <a:prstGeom prst="roundRect">
            <a:avLst>
              <a:gd name="adj" fmla="val 180282"/>
            </a:avLst>
          </a:prstGeom>
          <a:solidFill>
            <a:srgbClr val="325F7B"/>
          </a:solidFill>
        </p:spPr>
      </p:sp>
      <p:sp>
        <p:nvSpPr>
          <p:cNvPr id="7" name="Text 4"/>
          <p:cNvSpPr/>
          <p:nvPr/>
        </p:nvSpPr>
        <p:spPr>
          <a:xfrm>
            <a:off x="9956959" y="1373624"/>
            <a:ext cx="202883" cy="253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70069" y="1923098"/>
            <a:ext cx="2516505" cy="2640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Implement EKF-SLAM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70069" y="2288619"/>
            <a:ext cx="7576661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Complete navigation pipeline from scratch.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78141" y="3173730"/>
            <a:ext cx="7960519" cy="1250633"/>
          </a:xfrm>
          <a:prstGeom prst="roundRect">
            <a:avLst>
              <a:gd name="adj" fmla="val 8774"/>
            </a:avLst>
          </a:prstGeom>
          <a:solidFill>
            <a:srgbClr val="FFFCF5">
              <a:alpha val="95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6078141" y="3150870"/>
            <a:ext cx="7960519" cy="91440"/>
          </a:xfrm>
          <a:prstGeom prst="roundRect">
            <a:avLst>
              <a:gd name="adj" fmla="val 10000"/>
            </a:avLst>
          </a:prstGeom>
          <a:solidFill>
            <a:srgbClr val="325F7B"/>
          </a:solidFill>
        </p:spPr>
      </p:sp>
      <p:sp>
        <p:nvSpPr>
          <p:cNvPr id="12" name="Shape 9"/>
          <p:cNvSpPr/>
          <p:nvPr/>
        </p:nvSpPr>
        <p:spPr>
          <a:xfrm>
            <a:off x="9804797" y="2920127"/>
            <a:ext cx="507206" cy="507206"/>
          </a:xfrm>
          <a:prstGeom prst="roundRect">
            <a:avLst>
              <a:gd name="adj" fmla="val 180282"/>
            </a:avLst>
          </a:prstGeom>
          <a:solidFill>
            <a:srgbClr val="325F7B"/>
          </a:solidFill>
        </p:spPr>
      </p:sp>
      <p:sp>
        <p:nvSpPr>
          <p:cNvPr id="13" name="Text 10"/>
          <p:cNvSpPr/>
          <p:nvPr/>
        </p:nvSpPr>
        <p:spPr>
          <a:xfrm>
            <a:off x="9956959" y="3046928"/>
            <a:ext cx="202883" cy="253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270069" y="3596402"/>
            <a:ext cx="3750231" cy="2640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Autonomous Waypoint Navigation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6270069" y="3961924"/>
            <a:ext cx="7576661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Develop a system for goal-oriented movement.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78141" y="4847034"/>
            <a:ext cx="7960519" cy="1250633"/>
          </a:xfrm>
          <a:prstGeom prst="roundRect">
            <a:avLst>
              <a:gd name="adj" fmla="val 8774"/>
            </a:avLst>
          </a:prstGeom>
          <a:solidFill>
            <a:srgbClr val="FFFCF5">
              <a:alpha val="95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6078141" y="4824174"/>
            <a:ext cx="7960519" cy="91440"/>
          </a:xfrm>
          <a:prstGeom prst="roundRect">
            <a:avLst>
              <a:gd name="adj" fmla="val 10000"/>
            </a:avLst>
          </a:prstGeom>
          <a:solidFill>
            <a:srgbClr val="325F7B"/>
          </a:solidFill>
        </p:spPr>
      </p:sp>
      <p:sp>
        <p:nvSpPr>
          <p:cNvPr id="18" name="Shape 15"/>
          <p:cNvSpPr/>
          <p:nvPr/>
        </p:nvSpPr>
        <p:spPr>
          <a:xfrm>
            <a:off x="9804797" y="4593431"/>
            <a:ext cx="507206" cy="507206"/>
          </a:xfrm>
          <a:prstGeom prst="roundRect">
            <a:avLst>
              <a:gd name="adj" fmla="val 180282"/>
            </a:avLst>
          </a:prstGeom>
          <a:solidFill>
            <a:srgbClr val="325F7B"/>
          </a:solidFill>
        </p:spPr>
      </p:sp>
      <p:sp>
        <p:nvSpPr>
          <p:cNvPr id="19" name="Text 16"/>
          <p:cNvSpPr/>
          <p:nvPr/>
        </p:nvSpPr>
        <p:spPr>
          <a:xfrm>
            <a:off x="9956959" y="4720233"/>
            <a:ext cx="202883" cy="253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3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6270069" y="5269706"/>
            <a:ext cx="3083362" cy="2640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Reactive Obstacle Avoidance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6270069" y="5635228"/>
            <a:ext cx="7576661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Ensure safe navigation in dynamic environments.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78141" y="6520339"/>
            <a:ext cx="7960519" cy="1250633"/>
          </a:xfrm>
          <a:prstGeom prst="roundRect">
            <a:avLst>
              <a:gd name="adj" fmla="val 8774"/>
            </a:avLst>
          </a:prstGeom>
          <a:solidFill>
            <a:srgbClr val="FFFCF5">
              <a:alpha val="95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6078141" y="6497479"/>
            <a:ext cx="7960519" cy="91440"/>
          </a:xfrm>
          <a:prstGeom prst="roundRect">
            <a:avLst>
              <a:gd name="adj" fmla="val 10000"/>
            </a:avLst>
          </a:prstGeom>
          <a:solidFill>
            <a:srgbClr val="325F7B"/>
          </a:solidFill>
        </p:spPr>
      </p:sp>
      <p:sp>
        <p:nvSpPr>
          <p:cNvPr id="24" name="Shape 21"/>
          <p:cNvSpPr/>
          <p:nvPr/>
        </p:nvSpPr>
        <p:spPr>
          <a:xfrm>
            <a:off x="9804797" y="6266736"/>
            <a:ext cx="507206" cy="507206"/>
          </a:xfrm>
          <a:prstGeom prst="roundRect">
            <a:avLst>
              <a:gd name="adj" fmla="val 180282"/>
            </a:avLst>
          </a:prstGeom>
          <a:solidFill>
            <a:srgbClr val="325F7B"/>
          </a:solidFill>
        </p:spPr>
      </p:sp>
      <p:sp>
        <p:nvSpPr>
          <p:cNvPr id="25" name="Text 22"/>
          <p:cNvSpPr/>
          <p:nvPr/>
        </p:nvSpPr>
        <p:spPr>
          <a:xfrm>
            <a:off x="9956959" y="6393537"/>
            <a:ext cx="202883" cy="2536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4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6270069" y="6943011"/>
            <a:ext cx="2521982" cy="2640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Real-time Visualization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6270069" y="7308533"/>
            <a:ext cx="7576661" cy="2705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an intuitive dashboard for monitoring.</a:t>
            </a:r>
            <a:endParaRPr lang="en-US" sz="1300" dirty="0"/>
          </a:p>
        </p:txBody>
      </p:sp>
      <p:sp>
        <p:nvSpPr>
          <p:cNvPr id="28" name="Rectangle 27"/>
          <p:cNvSpPr/>
          <p:nvPr/>
        </p:nvSpPr>
        <p:spPr>
          <a:xfrm>
            <a:off x="12635345" y="7793832"/>
            <a:ext cx="1901537" cy="363032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5751076" cy="64436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Technical Foundation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1638" y="1726644"/>
            <a:ext cx="3093006" cy="386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Technical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21638" y="2319338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21638" y="2721412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PyGame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21638" y="3123486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1638" y="3659505"/>
            <a:ext cx="4049673" cy="3865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Simulation Specifications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21638" y="4252198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World Size: 10×8m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1638" y="4654272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Frame Rate: 60 FPS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1638" y="5056346"/>
            <a:ext cx="6342102" cy="54435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Landmarks: 5 static objects:</a:t>
            </a:r>
            <a:b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		A:0,0</a:t>
            </a:r>
            <a:b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		B:10,0</a:t>
            </a:r>
            <a:b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		C:4,3</a:t>
            </a:r>
            <a:b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		D:</a:t>
            </a:r>
            <a:b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</a:b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		E</a:t>
            </a:r>
            <a:endParaRPr lang="en-US" sz="1600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endParaRPr lang="en-US" sz="1600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algn="l">
              <a:lnSpc>
                <a:spcPts val="2550"/>
              </a:lnSpc>
              <a:buSzPct val="100000"/>
            </a:pPr>
            <a:endParaRPr lang="en-US" sz="16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6660" y="1211342"/>
            <a:ext cx="6342102" cy="63421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3842" y="7099824"/>
            <a:ext cx="6342102" cy="329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</a:rPr>
              <a:t>Goal Points: {(2,2),(8,4),(5,7)}</a:t>
            </a:r>
            <a:endParaRPr lang="en-US" sz="1600" dirty="0"/>
          </a:p>
        </p:txBody>
      </p:sp>
      <p:sp>
        <p:nvSpPr>
          <p:cNvPr id="15" name="Rectangle 14"/>
          <p:cNvSpPr/>
          <p:nvPr/>
        </p:nvSpPr>
        <p:spPr>
          <a:xfrm>
            <a:off x="12635345" y="7708738"/>
            <a:ext cx="1901537" cy="478551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3299" y="234196"/>
            <a:ext cx="3367683" cy="77612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796" y="577929"/>
            <a:ext cx="7832408" cy="1171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System Architecture: Real-time Processing Pipeline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6" y="2030016"/>
            <a:ext cx="936903" cy="11243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79984" y="2217301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Control Input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779984" y="2622352"/>
            <a:ext cx="6708219" cy="299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 receives velocity commands ($v, \omega$).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" y="3154323"/>
            <a:ext cx="936903" cy="11243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779984" y="3341608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Prediction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779984" y="3746659"/>
            <a:ext cx="6708219" cy="299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Guess robot movement based on wheel encoders (adds uncertainty).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796" y="4278630"/>
            <a:ext cx="936903" cy="11243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79984" y="4465915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Observation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1779984" y="4870966"/>
            <a:ext cx="6708219" cy="299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 detects landmarks using Range &amp; Bearing.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96" y="5402937"/>
            <a:ext cx="936903" cy="11243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79984" y="5590223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EKF Update</a:t>
            </a:r>
            <a:endParaRPr lang="en-US" sz="1800" dirty="0"/>
          </a:p>
        </p:txBody>
      </p:sp>
      <p:sp>
        <p:nvSpPr>
          <p:cNvPr id="15" name="Text 8"/>
          <p:cNvSpPr/>
          <p:nvPr/>
        </p:nvSpPr>
        <p:spPr>
          <a:xfrm>
            <a:off x="1779984" y="5995273"/>
            <a:ext cx="6708219" cy="299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Compare predicted vs. observed landmark locations to correct position.</a:t>
            </a:r>
            <a:endParaRPr lang="en-US" sz="14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96" y="6527244"/>
            <a:ext cx="936903" cy="1124307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779984" y="6714530"/>
            <a:ext cx="2342317" cy="292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Decision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1779984" y="7119580"/>
            <a:ext cx="6708219" cy="2997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Motion Controller adjusts steering to reach the next goal.</a:t>
            </a:r>
            <a:endParaRPr lang="en-US" sz="1450" dirty="0"/>
          </a:p>
        </p:txBody>
      </p:sp>
      <p:sp>
        <p:nvSpPr>
          <p:cNvPr id="19" name="Rectangle 18"/>
          <p:cNvSpPr/>
          <p:nvPr/>
        </p:nvSpPr>
        <p:spPr>
          <a:xfrm>
            <a:off x="12222867" y="7651550"/>
            <a:ext cx="2314016" cy="505313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1064609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Robot Kinematics: Differential Drive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8290"/>
            <a:ext cx="6088975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What is a Differential Drive Robot?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160395"/>
            <a:ext cx="82841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Moves using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two independently driven wheels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602593"/>
            <a:ext cx="82841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Turns by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changing wheel speed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not steering.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044791"/>
            <a:ext cx="82841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“No steering wheel, just smart wheel speeds.”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634508"/>
            <a:ext cx="4163616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Why Differential Drive?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93790" y="5286613"/>
            <a:ext cx="82841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Easy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model mathematically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728811"/>
            <a:ext cx="82841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Commonly used in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indoor robots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171009"/>
            <a:ext cx="828413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Ideal for research and SLAM applications</a:t>
            </a:r>
            <a:endParaRPr lang="en-US" sz="17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8943" y="2536627"/>
            <a:ext cx="4205168" cy="420516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2635345" y="7523018"/>
            <a:ext cx="1901537" cy="633846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488" y="1655088"/>
            <a:ext cx="4919424" cy="49194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1736169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Robot Kinematics (Differential Drive)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793790" y="3244453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Motion Principle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793790" y="400990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robot’s movement depends on: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462795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Left wheel velocity (</a:t>
            </a:r>
            <a:r>
              <a:rPr lang="en-US" sz="1750" i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Vl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​)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93790" y="507015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Right wheel velocity (</a:t>
            </a:r>
            <a:r>
              <a:rPr lang="en-US" sz="1750" i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Vr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​)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790" y="551235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Distance between wheels (</a:t>
            </a:r>
            <a:r>
              <a:rPr lang="en-US" sz="1750" i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)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613040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728863" y="7048982"/>
            <a:ext cx="1901537" cy="992135"/>
          </a:xfrm>
          <a:prstGeom prst="rect">
            <a:avLst/>
          </a:prstGeom>
          <a:solidFill>
            <a:srgbClr val="8B89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2038"/>
            <a:ext cx="841795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Motion Control (Go-to-Goal)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15051"/>
            <a:ext cx="3978116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972633"/>
            <a:ext cx="3978116" cy="13605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 the robot autonomously from one goal point to another.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2928" y="2315051"/>
            <a:ext cx="3978116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Strategy Used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2972633"/>
            <a:ext cx="3978116" cy="907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</a:t>
            </a:r>
            <a:r>
              <a:rPr lang="en-US" sz="22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Proportional (P) Controller</a:t>
            </a:r>
            <a:r>
              <a:rPr lang="en-US" sz="22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based on: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4083725"/>
            <a:ext cx="3978116" cy="907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Distance error (difference between robot and goal)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5070038"/>
            <a:ext cx="3978116" cy="907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Heading error (direction mismatch)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2315051"/>
            <a:ext cx="3978116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2972633"/>
            <a:ext cx="3978116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and effective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3505438"/>
            <a:ext cx="3978116" cy="453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Smooth motion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4038243"/>
            <a:ext cx="3978116" cy="9070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Suitable for indoor navigation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2067" y="5149334"/>
            <a:ext cx="3978116" cy="18140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robot continuously adjusts its speed and direction until the goal is reached.</a:t>
            </a:r>
            <a:endParaRPr lang="en-US" sz="2200" dirty="0"/>
          </a:p>
        </p:txBody>
      </p:sp>
      <p:sp>
        <p:nvSpPr>
          <p:cNvPr id="14" name="Rectangle 13"/>
          <p:cNvSpPr/>
          <p:nvPr/>
        </p:nvSpPr>
        <p:spPr>
          <a:xfrm>
            <a:off x="12635345" y="7523018"/>
            <a:ext cx="1901537" cy="633846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14557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What is SLAM?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014061"/>
            <a:ext cx="7057073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Simultaneous Localization and Mapping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2779514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SLAM enables a robot to: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39756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Estimate its own position (localization)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839766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a map of the environment (mapping)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54283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The Core Problem</a:t>
            </a:r>
            <a:endParaRPr lang="en-US" sz="2650" dirty="0"/>
          </a:p>
        </p:txBody>
      </p:sp>
      <p:sp>
        <p:nvSpPr>
          <p:cNvPr id="9" name="Text 6"/>
          <p:cNvSpPr/>
          <p:nvPr/>
        </p:nvSpPr>
        <p:spPr>
          <a:xfrm>
            <a:off x="793790" y="5308283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build a map, the robot needs its position.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know its position, the robot needs a map.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289238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SLAM solves this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chicken-and-egg problem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estimating both together.</a:t>
            </a:r>
            <a:endParaRPr lang="en-US" sz="1750" dirty="0"/>
          </a:p>
        </p:txBody>
      </p:sp>
      <p:sp>
        <p:nvSpPr>
          <p:cNvPr id="11" name="Rectangle 10"/>
          <p:cNvSpPr/>
          <p:nvPr/>
        </p:nvSpPr>
        <p:spPr>
          <a:xfrm>
            <a:off x="12408061" y="7755038"/>
            <a:ext cx="2128821" cy="401826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44203"/>
            <a:ext cx="743712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Why Do We Need SLAM?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293144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Simultaneous Localization and Mapping (SLAM) problem, first tackled in the 1980s, highlights a fundamental challenge in robotics.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500914"/>
            <a:ext cx="350150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Unknown Robot Location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436388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 lost in unknown space.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500914"/>
            <a:ext cx="350150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Simultaneous Localization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4436388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 navigating known space.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485328"/>
            <a:ext cx="350150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Probability Based Correction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6420803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 Drift using Probability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5485328"/>
            <a:ext cx="3501509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Known Robot Localization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856321" y="6420803"/>
            <a:ext cx="35015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 navigating known space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7242929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593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501" y="2677001"/>
            <a:ext cx="3294936" cy="4117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Kalman Filter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76501" y="3253383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estimation method for noisy systems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6501" y="3640574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prediction and sensor measurements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76501" y="4027765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Works on </a:t>
            </a:r>
            <a:r>
              <a:rPr lang="en-US" sz="12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 systems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6501" y="4414957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Assumes Gaussian noise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6501" y="4802148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Operates in a predict–correct loop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523798" y="2677001"/>
            <a:ext cx="5221129" cy="4117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Extended Kalman Filter (EKF)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7523798" y="3253383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Extension of Kalman Filter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523798" y="3640574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Used for </a:t>
            </a:r>
            <a:r>
              <a:rPr lang="en-US" sz="12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non-linear systems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23798" y="4027765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Linearizes models using Jacobians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23798" y="4414957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Commonly used in robotics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523798" y="4802148"/>
            <a:ext cx="6537722" cy="3295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Handles motion and sensor non-linearity</a:t>
            </a:r>
            <a:endParaRPr lang="en-US" sz="12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01" y="5374600"/>
            <a:ext cx="13477399" cy="27492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2635345" y="7523018"/>
            <a:ext cx="1901537" cy="633846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386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9383" y="1577816"/>
            <a:ext cx="5075634" cy="507563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75072" y="451842"/>
            <a:ext cx="4569381" cy="10267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EKF-SLAM Approach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575310" y="1544320"/>
            <a:ext cx="4925060" cy="8801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2800" dirty="0">
              <a:solidFill>
                <a:srgbClr val="124E73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2800" dirty="0">
              <a:solidFill>
                <a:srgbClr val="124E73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Why EKF?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340360" y="2098675"/>
            <a:ext cx="8228965" cy="4794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 motion is non-linear</a:t>
            </a: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318135" y="2567940"/>
            <a:ext cx="8274685" cy="165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Sensor models are non-linear</a:t>
            </a: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/>
          </a:p>
          <a:p>
            <a:pPr marL="0" indent="0" algn="l">
              <a:lnSpc>
                <a:spcPts val="2050"/>
              </a:lnSpc>
              <a:buNone/>
            </a:pP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So, EKF </a:t>
            </a:r>
            <a:r>
              <a:rPr lang="en-US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approximates non-linear models using linearization</a:t>
            </a: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585470" y="3388360"/>
            <a:ext cx="3164205" cy="14522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2800" dirty="0">
              <a:solidFill>
                <a:srgbClr val="124E73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2800" dirty="0">
              <a:solidFill>
                <a:srgbClr val="124E73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2800" dirty="0">
              <a:solidFill>
                <a:srgbClr val="124E73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endParaRPr lang="en-US" sz="2800" dirty="0">
              <a:solidFill>
                <a:srgbClr val="124E73"/>
              </a:solidFill>
              <a:latin typeface="Libre Baskerville" panose="02000000000000000000" pitchFamily="34" charset="0"/>
              <a:ea typeface="Libre Baskerville" panose="02000000000000000000" pitchFamily="34" charset="-122"/>
              <a:cs typeface="Libre Baskerville" panose="02000000000000000000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How EKF works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312420" y="3943350"/>
            <a:ext cx="8256905" cy="1674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</a:t>
            </a:r>
            <a:r>
              <a:rPr lang="en-US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Jacobian matrices</a:t>
            </a: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linearize equations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340360" y="4329430"/>
            <a:ext cx="8228965" cy="29508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Applies Kalman Filter equations on this approximation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318135" y="4744085"/>
            <a:ext cx="8251190" cy="2195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Continuously updates estimates</a:t>
            </a: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75072" y="5290423"/>
            <a:ext cx="3148489" cy="3080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546100" y="5845175"/>
            <a:ext cx="8023225" cy="13061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75072" y="6231017"/>
            <a:ext cx="7993856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75072" y="6617137"/>
            <a:ext cx="7993856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75072" y="7003256"/>
            <a:ext cx="7993856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sz="1250" dirty="0"/>
          </a:p>
        </p:txBody>
      </p:sp>
      <p:sp>
        <p:nvSpPr>
          <p:cNvPr id="18" name="Text 2"/>
          <p:cNvSpPr/>
          <p:nvPr/>
        </p:nvSpPr>
        <p:spPr>
          <a:xfrm>
            <a:off x="523240" y="1085215"/>
            <a:ext cx="7994015" cy="5099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endParaRPr lang="en-US" dirty="0">
              <a:solidFill>
                <a:srgbClr val="2B4150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IN" altLang="en-US" dirty="0">
                <a:cs typeface="+mn-lt"/>
              </a:rPr>
              <a:t> Helps Robot to estimate Robot Pose and Landmark </a:t>
            </a:r>
            <a:r>
              <a:rPr lang="en-IN" altLang="en-US" dirty="0">
                <a:cs typeface="+mn-lt"/>
              </a:rPr>
              <a:t>Positions at the same time</a:t>
            </a:r>
            <a:endParaRPr lang="en-IN" altLang="en-US" dirty="0">
              <a:cs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5329" y="571024"/>
            <a:ext cx="6621185" cy="647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EKF-SLAM Components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725329" y="1529596"/>
            <a:ext cx="7693343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 vector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robot pose + landmark positions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25329" y="1933694"/>
            <a:ext cx="7693343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Prediction step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uses odometry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25329" y="2337792"/>
            <a:ext cx="7693343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step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uses sensor measurements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25329" y="2741890"/>
            <a:ext cx="7693343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Covariance matrix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represents uncertainty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5329" y="3513773"/>
            <a:ext cx="4944428" cy="388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Understanding the State Vector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25329" y="4109442"/>
            <a:ext cx="5069681" cy="3315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Robot's Pose: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Includes x, y, and θ coordinates.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5329" y="4513540"/>
            <a:ext cx="5069681" cy="663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Landmark Positions: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Dynamically added as discovered.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5329" y="5249228"/>
            <a:ext cx="5069681" cy="663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Covariance Matrix: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Represents confidence in the state.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25329" y="5984915"/>
            <a:ext cx="5069681" cy="6631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Correlation:</a:t>
            </a: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Learns relationships between landmarks.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08169" y="3493056"/>
            <a:ext cx="2118003" cy="397906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Eg: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[x,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θ,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Lx1,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Ly1,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Lx2,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Ly2,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.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LxN,</a:t>
            </a:r>
            <a:endParaRPr lang="en-US" sz="16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LyN]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06" y="398502"/>
            <a:ext cx="3897392" cy="4530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Simulation &amp; Results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507206" y="1068943"/>
            <a:ext cx="13615988" cy="1757720"/>
          </a:xfrm>
          <a:prstGeom prst="roundRect">
            <a:avLst>
              <a:gd name="adj" fmla="val 520"/>
            </a:avLst>
          </a:prstGeom>
          <a:solidFill>
            <a:srgbClr val="F3EEE3"/>
          </a:solidFill>
          <a:ln w="7620">
            <a:solidFill>
              <a:srgbClr val="D9D4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9725" y="1221462"/>
            <a:ext cx="434816" cy="434816"/>
          </a:xfrm>
          <a:prstGeom prst="roundRect">
            <a:avLst>
              <a:gd name="adj" fmla="val 21027482"/>
            </a:avLst>
          </a:prstGeom>
          <a:solidFill>
            <a:srgbClr val="325F7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9264" y="1341001"/>
            <a:ext cx="195620" cy="195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9725" y="1801177"/>
            <a:ext cx="2174200" cy="2717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Simulation Setup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9725" y="2159794"/>
            <a:ext cx="13310949" cy="2318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Implemented using </a:t>
            </a:r>
            <a:r>
              <a:rPr lang="en-US" sz="110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Pygame,numpy,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9725" y="2442329"/>
            <a:ext cx="13310949" cy="2318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Visualizes robot motion, landmarks, and paths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06" y="2989659"/>
            <a:ext cx="9122569" cy="484655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635345" y="7523018"/>
            <a:ext cx="1901537" cy="633846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1645"/>
            <a:ext cx="6098977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Simulation &amp; Results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30586"/>
            <a:ext cx="6407944" cy="4999315"/>
          </a:xfrm>
          <a:prstGeom prst="roundRect">
            <a:avLst>
              <a:gd name="adj" fmla="val 183"/>
            </a:avLst>
          </a:prstGeom>
          <a:solidFill>
            <a:srgbClr val="F3EEE3"/>
          </a:solidFill>
          <a:ln w="7620">
            <a:solidFill>
              <a:srgbClr val="D9D4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06502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2252067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2972276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Simulation Setup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028224" y="3533656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Implemented using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Pygame,numpy,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8224" y="3975854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Visualizes robot motion, landmarks, and paths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1830586"/>
            <a:ext cx="6408063" cy="4999315"/>
          </a:xfrm>
          <a:prstGeom prst="roundRect">
            <a:avLst>
              <a:gd name="adj" fmla="val 183"/>
            </a:avLst>
          </a:prstGeom>
          <a:solidFill>
            <a:srgbClr val="F3EEE3"/>
          </a:solidFill>
          <a:ln w="7620">
            <a:solidFill>
              <a:srgbClr val="D9D4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62982" y="206502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325F7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50148" y="2252067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62982" y="2972276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B4150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Results Observed</a:t>
            </a:r>
            <a:endParaRPr lang="en-US" sz="2650" dirty="0"/>
          </a:p>
        </p:txBody>
      </p:sp>
      <p:sp>
        <p:nvSpPr>
          <p:cNvPr id="13" name="Text 9"/>
          <p:cNvSpPr/>
          <p:nvPr/>
        </p:nvSpPr>
        <p:spPr>
          <a:xfrm>
            <a:off x="7662982" y="3533656"/>
            <a:ext cx="59391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Trajectory Comparison: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EKF (Green) stays locked to Ground Truth (Blue), unlike Odometry (Orange) which drifts significantly.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662982" y="4701659"/>
            <a:ext cx="59391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Error Analysis: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Odometry Mean Error:  (High drift).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EKF Mean Error: (High accuracy).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7662982" y="5869662"/>
            <a:ext cx="59391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Mapping: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Successfully converged 5 landmarks to true coordinates with minimal variance.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793790" y="7085052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EKF-SLAM provides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better accuracy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compared to odometry alone.</a:t>
            </a:r>
            <a:endParaRPr lang="en-US" sz="1750" dirty="0"/>
          </a:p>
        </p:txBody>
      </p:sp>
      <p:sp>
        <p:nvSpPr>
          <p:cNvPr id="17" name="Rectangle 16"/>
          <p:cNvSpPr/>
          <p:nvPr/>
        </p:nvSpPr>
        <p:spPr>
          <a:xfrm>
            <a:off x="12635345" y="7523018"/>
            <a:ext cx="1901537" cy="633846"/>
          </a:xfrm>
          <a:prstGeom prst="rect">
            <a:avLst/>
          </a:prstGeom>
          <a:solidFill>
            <a:srgbClr val="F6F5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1866"/>
            <a:ext cx="75564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Conclusion &amp; Future Work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2640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Conclusion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3278505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Differential drive kinematics enable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realistic robot motion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46508"/>
            <a:ext cx="3501509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Odometry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alone is insufficient due to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drift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51609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EKF-SLAM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successfully improves </a:t>
            </a: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localization and mapping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6419612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Autonomous navigation is achieved in a noisy environment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2626400"/>
            <a:ext cx="3402330" cy="4252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24E73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Future Scope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4856321" y="3278505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Loop Closure: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Detecting when the robot returns to a previously visited room.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856321" y="4446508"/>
            <a:ext cx="3501509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Hardware Implementation: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Porting logic to a physical TurtleBot or ROS2 environment.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856321" y="5977414"/>
            <a:ext cx="3501509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Visual SLAM:</a:t>
            </a:r>
            <a:r>
              <a:rPr lang="en-US" sz="1750" dirty="0">
                <a:solidFill>
                  <a:srgbClr val="2B41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Replacing Lidar with camera-based feature extraction.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391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4844</Words>
  <Application>WPS Presentation</Application>
  <PresentationFormat>Custom</PresentationFormat>
  <Paragraphs>313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SimSun</vt:lpstr>
      <vt:lpstr>Wingdings</vt:lpstr>
      <vt:lpstr>Libre Baskerville</vt:lpstr>
      <vt:lpstr>Libre Baskerville</vt:lpstr>
      <vt:lpstr>Libre Baskerville</vt:lpstr>
      <vt:lpstr>DM Sans</vt:lpstr>
      <vt:lpstr>DM Sans</vt:lpstr>
      <vt:lpstr>DM Sans</vt:lpstr>
      <vt:lpstr>Calibri</vt:lpstr>
      <vt:lpstr>Microsoft YaHei</vt:lpstr>
      <vt:lpstr>Arial Unicode MS</vt:lpstr>
      <vt:lpstr>Adobe Thai</vt:lpstr>
      <vt:lpstr>Adobe Ming Std L</vt:lpstr>
      <vt:lpstr>Dubai Medium</vt:lpstr>
      <vt:lpstr>Times New Roman</vt:lpstr>
      <vt:lpstr>Ebrima</vt:lpstr>
      <vt:lpstr>Dubai</vt:lpstr>
      <vt:lpstr>Dubai Light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WPS_1686126766</cp:lastModifiedBy>
  <cp:revision>5</cp:revision>
  <dcterms:created xsi:type="dcterms:W3CDTF">2025-12-17T21:49:00Z</dcterms:created>
  <dcterms:modified xsi:type="dcterms:W3CDTF">2025-12-18T01:59:38Z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ABFF786379F34F0898644B2B9A4929F1_12</vt:lpwstr>
  </property>
  <property fmtid="{D5CDD505-2E9C-101B-9397-08002B2CF9AE}" pid="3" name="KSOProductBuildVer">
    <vt:lpwstr>2057-12.2.0.23149</vt:lpwstr>
  </property>
</Properties>
</file>